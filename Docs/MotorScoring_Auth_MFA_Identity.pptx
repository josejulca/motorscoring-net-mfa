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11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01864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2F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486400" cy="5486400"/>
          </a:xfrm>
          <a:prstGeom prst="ellipse">
            <a:avLst/>
          </a:prstGeom>
          <a:solidFill>
            <a:srgbClr val="051D4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Shape 1"/>
          <p:cNvSpPr/>
          <p:nvPr/>
        </p:nvSpPr>
        <p:spPr>
          <a:xfrm>
            <a:off x="10607040" y="4206240"/>
            <a:ext cx="3657600" cy="3657600"/>
          </a:xfrm>
          <a:prstGeom prst="ellipse">
            <a:avLst/>
          </a:prstGeom>
          <a:solidFill>
            <a:srgbClr val="0A58C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82F67">
              <a:alpha val="0"/>
            </a:srgbClr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 txBox="1"/>
          <p:nvPr/>
        </p:nvSpPr>
        <p:spPr>
          <a:xfrm>
            <a:off x="731520" y="23317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CREDITICIO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97480"/>
            <a:ext cx="10241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Autenticación, MFA y Arquitectura de Identity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397764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6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local, Google, GitHub y MFA/TOTP sobre un nuevo servicio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6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MotorScoring.Identity, con impacto en el Api y en el Web.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31520" y="4937760"/>
            <a:ext cx="822960" cy="384048"/>
          </a:xfrm>
          <a:prstGeom prst="roundRect">
            <a:avLst>
              <a:gd name="adj" fmla="val 19048"/>
            </a:avLst>
          </a:prstGeom>
          <a:solidFill>
            <a:srgbClr val="051D4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 txBox="1"/>
          <p:nvPr/>
        </p:nvSpPr>
        <p:spPr>
          <a:xfrm>
            <a:off x="731520" y="4937760"/>
            <a:ext cx="822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719072" y="4937760"/>
            <a:ext cx="923544" cy="384048"/>
          </a:xfrm>
          <a:prstGeom prst="roundRect">
            <a:avLst>
              <a:gd name="adj" fmla="val 19048"/>
            </a:avLst>
          </a:prstGeom>
          <a:solidFill>
            <a:srgbClr val="051D4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 txBox="1"/>
          <p:nvPr/>
        </p:nvSpPr>
        <p:spPr>
          <a:xfrm>
            <a:off x="1719072" y="4937760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807208" y="4937760"/>
            <a:ext cx="923544" cy="384048"/>
          </a:xfrm>
          <a:prstGeom prst="roundRect">
            <a:avLst>
              <a:gd name="adj" fmla="val 19048"/>
            </a:avLst>
          </a:prstGeom>
          <a:solidFill>
            <a:srgbClr val="051D4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 txBox="1"/>
          <p:nvPr/>
        </p:nvSpPr>
        <p:spPr>
          <a:xfrm>
            <a:off x="2807208" y="4937760"/>
            <a:ext cx="9235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895344" y="4937760"/>
            <a:ext cx="1124712" cy="384048"/>
          </a:xfrm>
          <a:prstGeom prst="roundRect">
            <a:avLst>
              <a:gd name="adj" fmla="val 19048"/>
            </a:avLst>
          </a:prstGeom>
          <a:solidFill>
            <a:srgbClr val="051D4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 txBox="1"/>
          <p:nvPr/>
        </p:nvSpPr>
        <p:spPr>
          <a:xfrm>
            <a:off x="3895344" y="4937760"/>
            <a:ext cx="112471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MFA/TOTP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184648" y="4937760"/>
            <a:ext cx="621792" cy="384048"/>
          </a:xfrm>
          <a:prstGeom prst="roundRect">
            <a:avLst>
              <a:gd name="adj" fmla="val 19048"/>
            </a:avLst>
          </a:prstGeom>
          <a:solidFill>
            <a:srgbClr val="051D4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 txBox="1"/>
          <p:nvPr/>
        </p:nvSpPr>
        <p:spPr>
          <a:xfrm>
            <a:off x="5184648" y="4937760"/>
            <a:ext cx="62179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971032" y="4937760"/>
            <a:ext cx="1929384" cy="384048"/>
          </a:xfrm>
          <a:prstGeom prst="roundRect">
            <a:avLst>
              <a:gd name="adj" fmla="val 19048"/>
            </a:avLst>
          </a:prstGeom>
          <a:solidFill>
            <a:srgbClr val="051D4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 txBox="1"/>
          <p:nvPr/>
        </p:nvSpPr>
        <p:spPr>
          <a:xfrm>
            <a:off x="5971032" y="4937760"/>
            <a:ext cx="192938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Permisos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" y="6217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FA5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de Scoring · Curso de Arquitectura de Software</a:t>
            </a:r>
            <a:endParaRPr lang="en-US" sz="1100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0B15606A-197A-D0FD-2C1D-FA6A4CC4D936}"/>
              </a:ext>
            </a:extLst>
          </p:cNvPr>
          <p:cNvSpPr txBox="1"/>
          <p:nvPr/>
        </p:nvSpPr>
        <p:spPr>
          <a:xfrm>
            <a:off x="773255" y="5386676"/>
            <a:ext cx="45989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C6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Integrantes: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C6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José Julca Díaz</a:t>
            </a:r>
            <a:endParaRPr lang="en-US" sz="15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5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1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Qué se incorporó a la solución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57784" y="1609344"/>
            <a:ext cx="566928" cy="566928"/>
          </a:xfrm>
          <a:prstGeom prst="ellipse">
            <a:avLst/>
          </a:prstGeom>
          <a:solidFill>
            <a:srgbClr val="0A58C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 txBox="1"/>
          <p:nvPr/>
        </p:nvSpPr>
        <p:spPr>
          <a:xfrm>
            <a:off x="557784" y="1609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1234440" y="15819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general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189280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Web, Identity y Api como tres servicios independientes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557784" y="2542032"/>
            <a:ext cx="566928" cy="566928"/>
          </a:xfrm>
          <a:prstGeom prst="ellipse">
            <a:avLst/>
          </a:prstGeom>
          <a:solidFill>
            <a:srgbClr val="0A58C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 txBox="1"/>
          <p:nvPr/>
        </p:nvSpPr>
        <p:spPr>
          <a:xfrm>
            <a:off x="557784" y="2542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25146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MotorScoring.Identity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282549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servicio hexagonal dedicado a identidad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57784" y="3474720"/>
            <a:ext cx="566928" cy="566928"/>
          </a:xfrm>
          <a:prstGeom prst="ellipse">
            <a:avLst/>
          </a:prstGeom>
          <a:solidFill>
            <a:srgbClr val="0A58C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 txBox="1"/>
          <p:nvPr/>
        </p:nvSpPr>
        <p:spPr>
          <a:xfrm>
            <a:off x="557784" y="3474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34472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local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34440" y="37581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 y contraseña, con lockout y password hash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57784" y="4407408"/>
            <a:ext cx="566928" cy="566928"/>
          </a:xfrm>
          <a:prstGeom prst="ellipse">
            <a:avLst/>
          </a:prstGeom>
          <a:solidFill>
            <a:srgbClr val="0A58C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 txBox="1"/>
          <p:nvPr/>
        </p:nvSpPr>
        <p:spPr>
          <a:xfrm>
            <a:off x="557784" y="4407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1234440" y="43799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social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34440" y="469087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(OIDC) y GitHub (OAuth2 puro)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57784" y="5340096"/>
            <a:ext cx="566928" cy="566928"/>
          </a:xfrm>
          <a:prstGeom prst="ellipse">
            <a:avLst/>
          </a:prstGeom>
          <a:solidFill>
            <a:srgbClr val="0A58C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 txBox="1"/>
          <p:nvPr/>
        </p:nvSpPr>
        <p:spPr>
          <a:xfrm>
            <a:off x="557784" y="53400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234440" y="5312664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/ TOTP</a:t>
            </a:r>
            <a:endParaRPr lang="en-US" sz="1400" dirty="0"/>
          </a:p>
        </p:txBody>
      </p:sp>
      <p:sp>
        <p:nvSpPr>
          <p:cNvPr id="23" name="Text 21"/>
          <p:cNvSpPr txBox="1"/>
          <p:nvPr/>
        </p:nvSpPr>
        <p:spPr>
          <a:xfrm>
            <a:off x="1234440" y="5623560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Activación opcional por usuario, QR y recovery codes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6089904" y="1609344"/>
            <a:ext cx="566928" cy="566928"/>
          </a:xfrm>
          <a:prstGeom prst="ellipse">
            <a:avLst/>
          </a:prstGeom>
          <a:solidFill>
            <a:srgbClr val="0A58C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 txBox="1"/>
          <p:nvPr/>
        </p:nvSpPr>
        <p:spPr>
          <a:xfrm>
            <a:off x="6089904" y="160934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766560" y="1581912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y Refresh Tokens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766560" y="189280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Emisión, rotación y revocación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089904" y="2542032"/>
            <a:ext cx="566928" cy="566928"/>
          </a:xfrm>
          <a:prstGeom prst="ellipse">
            <a:avLst/>
          </a:prstGeom>
          <a:solidFill>
            <a:srgbClr val="0A58C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 txBox="1"/>
          <p:nvPr/>
        </p:nvSpPr>
        <p:spPr>
          <a:xfrm>
            <a:off x="6089904" y="254203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6766560" y="2514600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permisos</a:t>
            </a:r>
            <a:endParaRPr lang="en-US" sz="1400" dirty="0"/>
          </a:p>
        </p:txBody>
      </p:sp>
      <p:sp>
        <p:nvSpPr>
          <p:cNvPr id="31" name="Text 29"/>
          <p:cNvSpPr txBox="1"/>
          <p:nvPr/>
        </p:nvSpPr>
        <p:spPr>
          <a:xfrm>
            <a:off x="6766560" y="2825496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vs. autorización (401 vs 403)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089904" y="3474720"/>
            <a:ext cx="566928" cy="566928"/>
          </a:xfrm>
          <a:prstGeom prst="ellipse">
            <a:avLst/>
          </a:prstGeom>
          <a:solidFill>
            <a:srgbClr val="0A58C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3" name="Text 31"/>
          <p:cNvSpPr txBox="1"/>
          <p:nvPr/>
        </p:nvSpPr>
        <p:spPr>
          <a:xfrm>
            <a:off x="6089904" y="34747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800" dirty="0"/>
          </a:p>
        </p:txBody>
      </p:sp>
      <p:sp>
        <p:nvSpPr>
          <p:cNvPr id="34" name="Text 32"/>
          <p:cNvSpPr txBox="1"/>
          <p:nvPr/>
        </p:nvSpPr>
        <p:spPr>
          <a:xfrm>
            <a:off x="6766560" y="3447288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el Api de Scoring</a:t>
            </a:r>
            <a:endParaRPr lang="en-US" sz="1400" dirty="0"/>
          </a:p>
        </p:txBody>
      </p:sp>
      <p:sp>
        <p:nvSpPr>
          <p:cNvPr id="35" name="Text 33"/>
          <p:cNvSpPr txBox="1"/>
          <p:nvPr/>
        </p:nvSpPr>
        <p:spPr>
          <a:xfrm>
            <a:off x="6766560" y="3758184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JWT y políticas por permiso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089904" y="4407408"/>
            <a:ext cx="566928" cy="566928"/>
          </a:xfrm>
          <a:prstGeom prst="ellipse">
            <a:avLst/>
          </a:prstGeom>
          <a:solidFill>
            <a:srgbClr val="0A58C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7" name="Text 35"/>
          <p:cNvSpPr txBox="1"/>
          <p:nvPr/>
        </p:nvSpPr>
        <p:spPr>
          <a:xfrm>
            <a:off x="6089904" y="44074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800" dirty="0"/>
          </a:p>
        </p:txBody>
      </p:sp>
      <p:sp>
        <p:nvSpPr>
          <p:cNvPr id="38" name="Text 36"/>
          <p:cNvSpPr txBox="1"/>
          <p:nvPr/>
        </p:nvSpPr>
        <p:spPr>
          <a:xfrm>
            <a:off x="6766560" y="4379976"/>
            <a:ext cx="4480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Cambios en el Web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6766560" y="4690872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Cookie de sesión, pantallas de login/MFA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5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1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 sistema completo, de un vistazo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68971" y="1344168"/>
            <a:ext cx="9651011" cy="5495544"/>
          </a:xfrm>
          <a:prstGeom prst="roundRect">
            <a:avLst>
              <a:gd name="adj" fmla="val 149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pic>
        <p:nvPicPr>
          <p:cNvPr id="5" name="Image 0" descr="/home/claude/deck/arquitectura_f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2123" y="1417320"/>
            <a:ext cx="9504707" cy="5349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5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1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Tres servicios independientes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035040" cy="685800"/>
          </a:xfrm>
          <a:prstGeom prst="roundRect">
            <a:avLst>
              <a:gd name="adj" fmla="val 12000"/>
            </a:avLst>
          </a:prstGeom>
          <a:solidFill>
            <a:srgbClr val="F4F6FB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 txBox="1"/>
          <p:nvPr/>
        </p:nvSpPr>
        <p:spPr>
          <a:xfrm>
            <a:off x="685800" y="1749933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60829"/>
            <a:ext cx="5760720" cy="2708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566160" y="2395728"/>
            <a:ext cx="0" cy="411480"/>
          </a:xfrm>
          <a:prstGeom prst="line">
            <a:avLst/>
          </a:prstGeom>
          <a:noFill/>
          <a:ln w="25400">
            <a:solidFill>
              <a:srgbClr val="0A58CA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6035040" cy="777240"/>
          </a:xfrm>
          <a:prstGeom prst="roundRect">
            <a:avLst>
              <a:gd name="adj" fmla="val 10588"/>
            </a:avLst>
          </a:prstGeom>
          <a:solidFill>
            <a:srgbClr val="082F67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 txBox="1"/>
          <p:nvPr/>
        </p:nvSpPr>
        <p:spPr>
          <a:xfrm>
            <a:off x="685800" y="2913507"/>
            <a:ext cx="5760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MotorScoring.Web  ·  :8081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242691"/>
            <a:ext cx="5760720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6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MVC — solo UI, cookie de sesión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238451" y="3639312"/>
            <a:ext cx="0" cy="411480"/>
          </a:xfrm>
          <a:prstGeom prst="line">
            <a:avLst/>
          </a:prstGeom>
          <a:noFill/>
          <a:ln w="25400">
            <a:solidFill>
              <a:srgbClr val="0A58CA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4893869" y="3639312"/>
            <a:ext cx="0" cy="411480"/>
          </a:xfrm>
          <a:prstGeom prst="line">
            <a:avLst/>
          </a:prstGeom>
          <a:noFill/>
          <a:ln w="25400">
            <a:solidFill>
              <a:srgbClr val="0A58CA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548640" y="4078224"/>
            <a:ext cx="2776118" cy="777240"/>
          </a:xfrm>
          <a:prstGeom prst="roundRect">
            <a:avLst>
              <a:gd name="adj" fmla="val 10588"/>
            </a:avLst>
          </a:prstGeom>
          <a:solidFill>
            <a:srgbClr val="0A58C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 txBox="1"/>
          <p:nvPr/>
        </p:nvSpPr>
        <p:spPr>
          <a:xfrm>
            <a:off x="685800" y="4157091"/>
            <a:ext cx="25017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MotorScoring.Identity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685800" y="4486275"/>
            <a:ext cx="2501798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:8082 · Hexagonal + ASP.NET Identity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07562" y="4078224"/>
            <a:ext cx="2776118" cy="777240"/>
          </a:xfrm>
          <a:prstGeom prst="roundRect">
            <a:avLst>
              <a:gd name="adj" fmla="val 10588"/>
            </a:avLst>
          </a:prstGeom>
          <a:solidFill>
            <a:srgbClr val="0A58C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 txBox="1"/>
          <p:nvPr/>
        </p:nvSpPr>
        <p:spPr>
          <a:xfrm>
            <a:off x="3944722" y="4157091"/>
            <a:ext cx="25017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MotorScoring.Api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3944722" y="4486275"/>
            <a:ext cx="2501798" cy="32346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:8080 · Hexagonal — Motor de Scoring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324758" y="4466844"/>
            <a:ext cx="482803" cy="0"/>
          </a:xfrm>
          <a:prstGeom prst="line">
            <a:avLst/>
          </a:prstGeom>
          <a:noFill/>
          <a:ln w="27940">
            <a:solidFill>
              <a:srgbClr val="00C2A8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 txBox="1"/>
          <p:nvPr/>
        </p:nvSpPr>
        <p:spPr>
          <a:xfrm>
            <a:off x="2962656" y="4864608"/>
            <a:ext cx="12070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936699" y="4855464"/>
            <a:ext cx="0" cy="411480"/>
          </a:xfrm>
          <a:prstGeom prst="line">
            <a:avLst/>
          </a:prstGeom>
          <a:noFill/>
          <a:ln w="25400">
            <a:solidFill>
              <a:srgbClr val="5B8FE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5195621" y="4855464"/>
            <a:ext cx="0" cy="411480"/>
          </a:xfrm>
          <a:prstGeom prst="line">
            <a:avLst/>
          </a:prstGeom>
          <a:noFill/>
          <a:ln w="25400">
            <a:solidFill>
              <a:srgbClr val="5B8FE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548640" y="5285232"/>
            <a:ext cx="2776118" cy="594360"/>
          </a:xfrm>
          <a:prstGeom prst="roundRect">
            <a:avLst>
              <a:gd name="adj" fmla="val 13846"/>
            </a:avLst>
          </a:prstGeom>
          <a:solidFill>
            <a:srgbClr val="F4F6FB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 txBox="1"/>
          <p:nvPr/>
        </p:nvSpPr>
        <p:spPr>
          <a:xfrm>
            <a:off x="685800" y="5332095"/>
            <a:ext cx="25017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85800" y="5606415"/>
            <a:ext cx="2501798" cy="227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MotorScoringIdentity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807562" y="5285232"/>
            <a:ext cx="2776118" cy="594360"/>
          </a:xfrm>
          <a:prstGeom prst="roundRect">
            <a:avLst>
              <a:gd name="adj" fmla="val 13846"/>
            </a:avLst>
          </a:prstGeom>
          <a:solidFill>
            <a:srgbClr val="F4F6FB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 txBox="1"/>
          <p:nvPr/>
        </p:nvSpPr>
        <p:spPr>
          <a:xfrm>
            <a:off x="3944722" y="5332095"/>
            <a:ext cx="250179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Server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944722" y="5606415"/>
            <a:ext cx="2501798" cy="22745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MotorScoring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903720" y="1691640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00C2A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 txBox="1"/>
          <p:nvPr/>
        </p:nvSpPr>
        <p:spPr>
          <a:xfrm>
            <a:off x="7040880" y="16916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Ventajas de separar Identity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903720" y="2121408"/>
            <a:ext cx="47548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30"/>
          <p:cNvSpPr txBox="1"/>
          <p:nvPr/>
        </p:nvSpPr>
        <p:spPr>
          <a:xfrm>
            <a:off x="7086600" y="2240280"/>
            <a:ext cx="4389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Web y el Api de Scoring no conocen contraseñas ni proveedores externos.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solo lugar centraliza roles, permisos, MFA y tokens.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puede evolucionar (nuevos proveedores, políticas) sin tocar el Api.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6903720" y="3977640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4" name="Text 32"/>
          <p:cNvSpPr txBox="1"/>
          <p:nvPr/>
        </p:nvSpPr>
        <p:spPr>
          <a:xfrm>
            <a:off x="7040880" y="39776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Costos / trade-offs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903720" y="4407408"/>
            <a:ext cx="4754880" cy="169164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6" name="Text 34"/>
          <p:cNvSpPr txBox="1"/>
          <p:nvPr/>
        </p:nvSpPr>
        <p:spPr>
          <a:xfrm>
            <a:off x="7086600" y="4526280"/>
            <a:ext cx="43891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servicio adicional que desplegar, versionar y monitorear.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 / Audience / SigningKey deben coincidir exactamente entre Identity y el Api.</a:t>
            </a:r>
            <a:endParaRPr lang="en-US" sz="115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Latencia extra: el Web depende de Identity para cada login y refresh.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5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 SERVICIO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1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MotorScoring.Identity — Arquitectura Hexagonal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400800" cy="566928"/>
          </a:xfrm>
          <a:prstGeom prst="roundRect">
            <a:avLst>
              <a:gd name="adj" fmla="val 14516"/>
            </a:avLst>
          </a:prstGeom>
          <a:solidFill>
            <a:srgbClr val="082F67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61264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Adapters.Inbound.Api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000707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6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AuthController · UsersController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3749040" y="2286000"/>
            <a:ext cx="0" cy="292608"/>
          </a:xfrm>
          <a:prstGeom prst="line">
            <a:avLst/>
          </a:prstGeom>
          <a:noFill/>
          <a:ln w="25400">
            <a:solidFill>
              <a:srgbClr val="0A58CA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8" name="Shape 6"/>
          <p:cNvSpPr/>
          <p:nvPr/>
        </p:nvSpPr>
        <p:spPr>
          <a:xfrm>
            <a:off x="548640" y="2606040"/>
            <a:ext cx="6400800" cy="566928"/>
          </a:xfrm>
          <a:prstGeom prst="roundRect">
            <a:avLst>
              <a:gd name="adj" fmla="val 14516"/>
            </a:avLst>
          </a:prstGeom>
          <a:solidFill>
            <a:srgbClr val="0A58C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 txBox="1"/>
          <p:nvPr/>
        </p:nvSpPr>
        <p:spPr>
          <a:xfrm>
            <a:off x="685800" y="2651760"/>
            <a:ext cx="61264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2915107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 de uso: AuthUseCase · UserAdministrationUseCase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749040" y="3200400"/>
            <a:ext cx="0" cy="292608"/>
          </a:xfrm>
          <a:prstGeom prst="line">
            <a:avLst/>
          </a:prstGeom>
          <a:noFill/>
          <a:ln w="25400">
            <a:solidFill>
              <a:srgbClr val="0A58CA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2" name="Shape 10"/>
          <p:cNvSpPr/>
          <p:nvPr/>
        </p:nvSpPr>
        <p:spPr>
          <a:xfrm>
            <a:off x="548640" y="3520440"/>
            <a:ext cx="6400800" cy="566928"/>
          </a:xfrm>
          <a:prstGeom prst="roundRect">
            <a:avLst>
              <a:gd name="adj" fmla="val 14516"/>
            </a:avLst>
          </a:prstGeom>
          <a:solidFill>
            <a:srgbClr val="5B8FE0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 txBox="1"/>
          <p:nvPr/>
        </p:nvSpPr>
        <p:spPr>
          <a:xfrm>
            <a:off x="685800" y="3566160"/>
            <a:ext cx="61264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" y="3829507"/>
            <a:ext cx="6126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EAF1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UserAccount · UserSummary · SecurityConstants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49040" y="4114800"/>
            <a:ext cx="0" cy="292608"/>
          </a:xfrm>
          <a:prstGeom prst="line">
            <a:avLst/>
          </a:prstGeom>
          <a:noFill/>
          <a:ln w="25400">
            <a:solidFill>
              <a:srgbClr val="5B8FE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548640" y="4434840"/>
            <a:ext cx="6400800" cy="640080"/>
          </a:xfrm>
          <a:prstGeom prst="roundRect">
            <a:avLst>
              <a:gd name="adj" fmla="val 12857"/>
            </a:avLst>
          </a:prstGeom>
          <a:solidFill>
            <a:srgbClr val="082F67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 txBox="1"/>
          <p:nvPr/>
        </p:nvSpPr>
        <p:spPr>
          <a:xfrm>
            <a:off x="685800" y="4487418"/>
            <a:ext cx="6126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Adapters.Outbound.Identity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4780026"/>
            <a:ext cx="6126480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C6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ASP.NET Core Identity · EF Core · SQL Server · JWT · Google/GitHub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548640" y="5230368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MotorScoring.Identity.Api = Composition Root (Program.cs, Seeder, Swagger, Health Check)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269480" y="1691640"/>
            <a:ext cx="4389120" cy="384048"/>
          </a:xfrm>
          <a:prstGeom prst="roundRect">
            <a:avLst>
              <a:gd name="adj" fmla="val 19048"/>
            </a:avLst>
          </a:prstGeom>
          <a:solidFill>
            <a:srgbClr val="082F6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 txBox="1"/>
          <p:nvPr/>
        </p:nvSpPr>
        <p:spPr>
          <a:xfrm>
            <a:off x="7406640" y="1691640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qué hexagonal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69480" y="2121408"/>
            <a:ext cx="43891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 txBox="1"/>
          <p:nvPr/>
        </p:nvSpPr>
        <p:spPr>
          <a:xfrm>
            <a:off x="7452360" y="2240280"/>
            <a:ext cx="4023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dominio no conoce ASP.NET Identity, EF Core </a:t>
            </a:r>
            <a:r>
              <a:rPr lang="en-US" sz="1150" dirty="0" err="1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</a:t>
            </a: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JWT.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casos de uso dependen de puertos (interfaces), no de implementaciones.</a:t>
            </a:r>
            <a:endParaRPr lang="en-US" sz="1150" dirty="0"/>
          </a:p>
          <a:p>
            <a:pPr marL="177800" indent="-177800">
              <a:spcAft>
                <a:spcPts val="7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adapters se pueden reemplazar sin tocar el núcleo.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269480" y="3675888"/>
            <a:ext cx="4389120" cy="384048"/>
          </a:xfrm>
          <a:prstGeom prst="roundRect">
            <a:avLst>
              <a:gd name="adj" fmla="val 19048"/>
            </a:avLst>
          </a:prstGeom>
          <a:solidFill>
            <a:srgbClr val="0A58C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 txBox="1"/>
          <p:nvPr/>
        </p:nvSpPr>
        <p:spPr>
          <a:xfrm>
            <a:off x="7406640" y="3675888"/>
            <a:ext cx="4114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7269480" y="4105656"/>
            <a:ext cx="4389120" cy="2084832"/>
          </a:xfrm>
          <a:prstGeom prst="roundRect">
            <a:avLst>
              <a:gd name="adj" fmla="val 394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7" name="Text 25"/>
          <p:cNvSpPr txBox="1"/>
          <p:nvPr/>
        </p:nvSpPr>
        <p:spPr>
          <a:xfrm>
            <a:off x="7452360" y="4224528"/>
            <a:ext cx="40233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Usuarios locales y password hash.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Google y GitHub, con vinculación de logins externos.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claims y permisos.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MFA/TOTP y recovery codes.</a:t>
            </a:r>
            <a:endParaRPr lang="en-US" sz="1150" dirty="0"/>
          </a:p>
          <a:p>
            <a:pPr marL="177800" indent="-177800">
              <a:spcAft>
                <a:spcPts val="6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Emisión, refresco y revocación de JWT.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5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LOCAL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1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Correo y contraseña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17220" y="1906524"/>
            <a:ext cx="502920" cy="502920"/>
          </a:xfrm>
          <a:prstGeom prst="ellipse">
            <a:avLst/>
          </a:prstGeom>
          <a:solidFill>
            <a:srgbClr val="0A58C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 txBox="1"/>
          <p:nvPr/>
        </p:nvSpPr>
        <p:spPr>
          <a:xfrm>
            <a:off x="617220" y="19065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234440" y="1828800"/>
            <a:ext cx="10378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1417320" y="18288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/api/auth/login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394960" y="182880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envía email + password a Identity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868680" y="2505456"/>
            <a:ext cx="0" cy="91440"/>
          </a:xfrm>
          <a:prstGeom prst="line">
            <a:avLst/>
          </a:prstGeom>
          <a:noFill/>
          <a:ln w="20320">
            <a:solidFill>
              <a:srgbClr val="5B8FE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617220" y="2692908"/>
            <a:ext cx="502920" cy="502920"/>
          </a:xfrm>
          <a:prstGeom prst="ellipse">
            <a:avLst/>
          </a:prstGeom>
          <a:solidFill>
            <a:srgbClr val="0A58C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 txBox="1"/>
          <p:nvPr/>
        </p:nvSpPr>
        <p:spPr>
          <a:xfrm>
            <a:off x="617220" y="26929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234440" y="2615184"/>
            <a:ext cx="10378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 txBox="1"/>
          <p:nvPr/>
        </p:nvSpPr>
        <p:spPr>
          <a:xfrm>
            <a:off x="1417320" y="2615184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Buscar usuario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394960" y="2615184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email en AspNetUsers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868680" y="3291840"/>
            <a:ext cx="0" cy="91440"/>
          </a:xfrm>
          <a:prstGeom prst="line">
            <a:avLst/>
          </a:prstGeom>
          <a:noFill/>
          <a:ln w="20320">
            <a:solidFill>
              <a:srgbClr val="5B8FE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617220" y="3479292"/>
            <a:ext cx="502920" cy="502920"/>
          </a:xfrm>
          <a:prstGeom prst="ellipse">
            <a:avLst/>
          </a:prstGeom>
          <a:solidFill>
            <a:srgbClr val="0A58C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 txBox="1"/>
          <p:nvPr/>
        </p:nvSpPr>
        <p:spPr>
          <a:xfrm>
            <a:off x="617220" y="34792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8" name="Shape 16"/>
          <p:cNvSpPr/>
          <p:nvPr/>
        </p:nvSpPr>
        <p:spPr>
          <a:xfrm>
            <a:off x="1234440" y="3401568"/>
            <a:ext cx="10378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 txBox="1"/>
          <p:nvPr/>
        </p:nvSpPr>
        <p:spPr>
          <a:xfrm>
            <a:off x="1417320" y="3401568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¿Cuenta bloqueada?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5394960" y="3401568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Lockout tras 5 intentos fallidos → 15 min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868680" y="4078224"/>
            <a:ext cx="0" cy="91440"/>
          </a:xfrm>
          <a:prstGeom prst="line">
            <a:avLst/>
          </a:prstGeom>
          <a:noFill/>
          <a:ln w="20320">
            <a:solidFill>
              <a:srgbClr val="5B8FE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2" name="Shape 20"/>
          <p:cNvSpPr/>
          <p:nvPr/>
        </p:nvSpPr>
        <p:spPr>
          <a:xfrm>
            <a:off x="617220" y="4265676"/>
            <a:ext cx="502920" cy="502920"/>
          </a:xfrm>
          <a:prstGeom prst="ellipse">
            <a:avLst/>
          </a:prstGeom>
          <a:solidFill>
            <a:srgbClr val="0A58C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3" name="Text 21"/>
          <p:cNvSpPr txBox="1"/>
          <p:nvPr/>
        </p:nvSpPr>
        <p:spPr>
          <a:xfrm>
            <a:off x="617220" y="42656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1234440" y="4187952"/>
            <a:ext cx="10378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 txBox="1"/>
          <p:nvPr/>
        </p:nvSpPr>
        <p:spPr>
          <a:xfrm>
            <a:off x="1417320" y="4187952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Validar password hash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394960" y="4187952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Falla → AccessFailedAsync → 401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868680" y="4864608"/>
            <a:ext cx="0" cy="91440"/>
          </a:xfrm>
          <a:prstGeom prst="line">
            <a:avLst/>
          </a:prstGeom>
          <a:noFill/>
          <a:ln w="20320">
            <a:solidFill>
              <a:srgbClr val="5B8FE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8" name="Shape 26"/>
          <p:cNvSpPr/>
          <p:nvPr/>
        </p:nvSpPr>
        <p:spPr>
          <a:xfrm>
            <a:off x="617220" y="5052060"/>
            <a:ext cx="502920" cy="502920"/>
          </a:xfrm>
          <a:prstGeom prst="ellipse">
            <a:avLst/>
          </a:prstGeom>
          <a:solidFill>
            <a:srgbClr val="0A58C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9" name="Text 27"/>
          <p:cNvSpPr txBox="1"/>
          <p:nvPr/>
        </p:nvSpPr>
        <p:spPr>
          <a:xfrm>
            <a:off x="617220" y="50520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1234440" y="4974336"/>
            <a:ext cx="10378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1" name="Text 29"/>
          <p:cNvSpPr txBox="1"/>
          <p:nvPr/>
        </p:nvSpPr>
        <p:spPr>
          <a:xfrm>
            <a:off x="1417320" y="4974336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¿MFA habilitado?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5394960" y="4974336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Sí: MfaChallengeToken · No: emitir tokens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68680" y="5650992"/>
            <a:ext cx="0" cy="91440"/>
          </a:xfrm>
          <a:prstGeom prst="line">
            <a:avLst/>
          </a:prstGeom>
          <a:noFill/>
          <a:ln w="20320">
            <a:solidFill>
              <a:srgbClr val="5B8FE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34" name="Shape 32"/>
          <p:cNvSpPr/>
          <p:nvPr/>
        </p:nvSpPr>
        <p:spPr>
          <a:xfrm>
            <a:off x="617220" y="5838444"/>
            <a:ext cx="502920" cy="502920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 txBox="1"/>
          <p:nvPr/>
        </p:nvSpPr>
        <p:spPr>
          <a:xfrm>
            <a:off x="617220" y="583844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36" name="Shape 34"/>
          <p:cNvSpPr/>
          <p:nvPr/>
        </p:nvSpPr>
        <p:spPr>
          <a:xfrm>
            <a:off x="1234440" y="5760720"/>
            <a:ext cx="10378440" cy="658368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7" name="Text 35"/>
          <p:cNvSpPr txBox="1"/>
          <p:nvPr/>
        </p:nvSpPr>
        <p:spPr>
          <a:xfrm>
            <a:off x="1417320" y="576072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Refresh Token</a:t>
            </a:r>
            <a:endParaRPr lang="en-US" sz="1300" dirty="0"/>
          </a:p>
        </p:txBody>
      </p:sp>
      <p:sp>
        <p:nvSpPr>
          <p:cNvPr id="38" name="Text 36"/>
          <p:cNvSpPr txBox="1"/>
          <p:nvPr/>
        </p:nvSpPr>
        <p:spPr>
          <a:xfrm>
            <a:off x="5394960" y="5760720"/>
            <a:ext cx="5943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guarda la sesión (cookie)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548640" y="6592824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de contraseña: mínimo 10 caracteres, con dígito, mayúscula, minúscula y símbolo.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5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SOCIAL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1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Google y GitHub como proveedores externos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84048"/>
          </a:xfrm>
          <a:prstGeom prst="roundRect">
            <a:avLst>
              <a:gd name="adj" fmla="val 19048"/>
            </a:avLst>
          </a:prstGeom>
          <a:solidFill>
            <a:srgbClr val="0A58C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 ·  OIDC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492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4892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AddGoogle sobre el esquema externo de Identity.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recibe el id_token / claims estándar directamente.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requiere llamadas adicionales para obtener el email.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384048"/>
          </a:xfrm>
          <a:prstGeom prst="roundRect">
            <a:avLst>
              <a:gd name="adj" fmla="val 19048"/>
            </a:avLst>
          </a:prstGeom>
          <a:solidFill>
            <a:srgbClr val="082F6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 txBox="1"/>
          <p:nvPr/>
        </p:nvSpPr>
        <p:spPr>
          <a:xfrm>
            <a:off x="6400800" y="169164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 ·  OAuth2 puro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148840"/>
            <a:ext cx="53492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 txBox="1"/>
          <p:nvPr/>
        </p:nvSpPr>
        <p:spPr>
          <a:xfrm>
            <a:off x="6492240" y="2331720"/>
            <a:ext cx="489204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no habla OIDC: se registra con AddOAuth manual.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Tras el token, Identity llama GET api.github.com/user.</a:t>
            </a:r>
            <a:endParaRPr lang="en-US" sz="125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email viene privado, se hace una 2ª llamada a /user/emails y se toma el primary + verified.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983480"/>
            <a:ext cx="11064240" cy="384048"/>
          </a:xfrm>
          <a:prstGeom prst="roundRect">
            <a:avLst>
              <a:gd name="adj" fmla="val 19048"/>
            </a:avLst>
          </a:prstGeom>
          <a:solidFill>
            <a:srgbClr val="00C2A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 txBox="1"/>
          <p:nvPr/>
        </p:nvSpPr>
        <p:spPr>
          <a:xfrm>
            <a:off x="685800" y="4983480"/>
            <a:ext cx="10789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 que Identity abstrae por igual para ambos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440680"/>
            <a:ext cx="1106424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Shape 13"/>
          <p:cNvSpPr/>
          <p:nvPr/>
        </p:nvSpPr>
        <p:spPr>
          <a:xfrm>
            <a:off x="850392" y="5669280"/>
            <a:ext cx="457200" cy="457200"/>
          </a:xfrm>
          <a:prstGeom prst="ellipse">
            <a:avLst/>
          </a:prstGeom>
          <a:solidFill>
            <a:srgbClr val="082F6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6" name="Text 14"/>
          <p:cNvSpPr txBox="1"/>
          <p:nvPr/>
        </p:nvSpPr>
        <p:spPr>
          <a:xfrm>
            <a:off x="850392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389888" y="5641848"/>
            <a:ext cx="295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 único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492752" y="5669280"/>
            <a:ext cx="457200" cy="457200"/>
          </a:xfrm>
          <a:prstGeom prst="ellipse">
            <a:avLst/>
          </a:prstGeom>
          <a:solidFill>
            <a:srgbClr val="082F6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 txBox="1"/>
          <p:nvPr/>
        </p:nvSpPr>
        <p:spPr>
          <a:xfrm>
            <a:off x="4492752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5032248" y="5641848"/>
            <a:ext cx="295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Vinculación por email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135112" y="5669280"/>
            <a:ext cx="457200" cy="457200"/>
          </a:xfrm>
          <a:prstGeom prst="ellipse">
            <a:avLst/>
          </a:prstGeom>
          <a:solidFill>
            <a:srgbClr val="082F6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 txBox="1"/>
          <p:nvPr/>
        </p:nvSpPr>
        <p:spPr>
          <a:xfrm>
            <a:off x="8135112" y="56692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674608" y="5641848"/>
            <a:ext cx="295656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LoginResponse hacia el Web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5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EXTERNO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1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Flujo de intercambio y vinculación de cuentas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309360" cy="512064"/>
          </a:xfrm>
          <a:prstGeom prst="roundRect">
            <a:avLst>
              <a:gd name="adj" fmla="val 16071"/>
            </a:avLst>
          </a:prstGeom>
          <a:solidFill>
            <a:srgbClr val="F4F6FB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/api/auth/external/{provider}</a:t>
            </a:r>
            <a:endParaRPr lang="en-US" sz="1080" dirty="0"/>
          </a:p>
        </p:txBody>
      </p:sp>
      <p:sp>
        <p:nvSpPr>
          <p:cNvPr id="6" name="Shape 4"/>
          <p:cNvSpPr/>
          <p:nvPr/>
        </p:nvSpPr>
        <p:spPr>
          <a:xfrm>
            <a:off x="3703320" y="2267712"/>
            <a:ext cx="0" cy="182880"/>
          </a:xfrm>
          <a:prstGeom prst="line">
            <a:avLst/>
          </a:prstGeom>
          <a:noFill/>
          <a:ln w="20320">
            <a:solidFill>
              <a:srgbClr val="5B8FE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548640" y="2450592"/>
            <a:ext cx="630936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 txBox="1"/>
          <p:nvPr/>
        </p:nvSpPr>
        <p:spPr>
          <a:xfrm>
            <a:off x="685800" y="2450592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 OAuth (cookie externa, 10 min)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703320" y="2980944"/>
            <a:ext cx="0" cy="182880"/>
          </a:xfrm>
          <a:prstGeom prst="line">
            <a:avLst/>
          </a:prstGeom>
          <a:noFill/>
          <a:ln w="20320">
            <a:solidFill>
              <a:srgbClr val="5B8FE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548640" y="3163824"/>
            <a:ext cx="6309360" cy="512064"/>
          </a:xfrm>
          <a:prstGeom prst="roundRect">
            <a:avLst>
              <a:gd name="adj" fmla="val 16071"/>
            </a:avLst>
          </a:prstGeom>
          <a:solidFill>
            <a:srgbClr val="F4F6FB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 txBox="1"/>
          <p:nvPr/>
        </p:nvSpPr>
        <p:spPr>
          <a:xfrm>
            <a:off x="685800" y="3163824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Callback: crea o vincula el AspNetUser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3703320" y="3694176"/>
            <a:ext cx="0" cy="182880"/>
          </a:xfrm>
          <a:prstGeom prst="line">
            <a:avLst/>
          </a:prstGeom>
          <a:noFill/>
          <a:ln w="20320">
            <a:solidFill>
              <a:srgbClr val="5B8FE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548640" y="3877056"/>
            <a:ext cx="630936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 txBox="1"/>
          <p:nvPr/>
        </p:nvSpPr>
        <p:spPr>
          <a:xfrm>
            <a:off x="685800" y="3877056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de intercambio (JWT, 2 min, purpose=external_exchange)</a:t>
            </a:r>
            <a:endParaRPr lang="en-US" sz="1080" dirty="0"/>
          </a:p>
        </p:txBody>
      </p:sp>
      <p:sp>
        <p:nvSpPr>
          <p:cNvPr id="15" name="Shape 13"/>
          <p:cNvSpPr/>
          <p:nvPr/>
        </p:nvSpPr>
        <p:spPr>
          <a:xfrm>
            <a:off x="3703320" y="4407408"/>
            <a:ext cx="0" cy="182880"/>
          </a:xfrm>
          <a:prstGeom prst="line">
            <a:avLst/>
          </a:prstGeom>
          <a:noFill/>
          <a:ln w="20320">
            <a:solidFill>
              <a:srgbClr val="5B8FE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6" name="Shape 14"/>
          <p:cNvSpPr/>
          <p:nvPr/>
        </p:nvSpPr>
        <p:spPr>
          <a:xfrm>
            <a:off x="548640" y="4590288"/>
            <a:ext cx="6309360" cy="512064"/>
          </a:xfrm>
          <a:prstGeom prst="roundRect">
            <a:avLst>
              <a:gd name="adj" fmla="val 16071"/>
            </a:avLst>
          </a:prstGeom>
          <a:solidFill>
            <a:srgbClr val="F4F6FB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 txBox="1"/>
          <p:nvPr/>
        </p:nvSpPr>
        <p:spPr>
          <a:xfrm>
            <a:off x="685800" y="4590288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Redirect a Web con ?code=...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3703320" y="5120640"/>
            <a:ext cx="0" cy="182880"/>
          </a:xfrm>
          <a:prstGeom prst="line">
            <a:avLst/>
          </a:prstGeom>
          <a:noFill/>
          <a:ln w="20320">
            <a:solidFill>
              <a:srgbClr val="5B8FE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9" name="Shape 17"/>
          <p:cNvSpPr/>
          <p:nvPr/>
        </p:nvSpPr>
        <p:spPr>
          <a:xfrm>
            <a:off x="548640" y="5303520"/>
            <a:ext cx="6309360" cy="512064"/>
          </a:xfrm>
          <a:prstGeom prst="roundRect">
            <a:avLst>
              <a:gd name="adj" fmla="val 16071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 txBox="1"/>
          <p:nvPr/>
        </p:nvSpPr>
        <p:spPr>
          <a:xfrm>
            <a:off x="685800" y="5303520"/>
            <a:ext cx="60350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/api/auth/external/exchange → tokens (o MFA)</a:t>
            </a:r>
            <a:endParaRPr lang="en-US" sz="1080" dirty="0"/>
          </a:p>
        </p:txBody>
      </p:sp>
      <p:sp>
        <p:nvSpPr>
          <p:cNvPr id="21" name="Shape 19"/>
          <p:cNvSpPr/>
          <p:nvPr/>
        </p:nvSpPr>
        <p:spPr>
          <a:xfrm>
            <a:off x="7178040" y="1737360"/>
            <a:ext cx="4480560" cy="384048"/>
          </a:xfrm>
          <a:prstGeom prst="roundRect">
            <a:avLst>
              <a:gd name="adj" fmla="val 19048"/>
            </a:avLst>
          </a:prstGeom>
          <a:solidFill>
            <a:srgbClr val="082F6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 txBox="1"/>
          <p:nvPr/>
        </p:nvSpPr>
        <p:spPr>
          <a:xfrm>
            <a:off x="7315200" y="1737360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usuario, dos proveedores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7178040" y="2194560"/>
            <a:ext cx="4480560" cy="3520440"/>
          </a:xfrm>
          <a:prstGeom prst="roundRect">
            <a:avLst>
              <a:gd name="adj" fmla="val 2338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Shape 22"/>
          <p:cNvSpPr/>
          <p:nvPr/>
        </p:nvSpPr>
        <p:spPr>
          <a:xfrm>
            <a:off x="7543800" y="2423160"/>
            <a:ext cx="3749040" cy="502920"/>
          </a:xfrm>
          <a:prstGeom prst="roundRect">
            <a:avLst>
              <a:gd name="adj" fmla="val 16364"/>
            </a:avLst>
          </a:prstGeom>
          <a:solidFill>
            <a:srgbClr val="082F67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5" name="Text 23"/>
          <p:cNvSpPr txBox="1"/>
          <p:nvPr/>
        </p:nvSpPr>
        <p:spPr>
          <a:xfrm>
            <a:off x="7680960" y="2468880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usuario@gmail.com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7680960" y="270662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C6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AspNetUsers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432597" y="2971800"/>
            <a:ext cx="0" cy="320040"/>
          </a:xfrm>
          <a:prstGeom prst="line">
            <a:avLst/>
          </a:prstGeom>
          <a:noFill/>
          <a:ln w="25400">
            <a:solidFill>
              <a:srgbClr val="5B8FE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8" name="Shape 26"/>
          <p:cNvSpPr/>
          <p:nvPr/>
        </p:nvSpPr>
        <p:spPr>
          <a:xfrm>
            <a:off x="10404043" y="2971800"/>
            <a:ext cx="0" cy="320040"/>
          </a:xfrm>
          <a:prstGeom prst="line">
            <a:avLst/>
          </a:prstGeom>
          <a:noFill/>
          <a:ln w="25400">
            <a:solidFill>
              <a:srgbClr val="5B8FE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9" name="Shape 27"/>
          <p:cNvSpPr/>
          <p:nvPr/>
        </p:nvSpPr>
        <p:spPr>
          <a:xfrm>
            <a:off x="7543800" y="3337560"/>
            <a:ext cx="1828800" cy="457200"/>
          </a:xfrm>
          <a:prstGeom prst="roundRect">
            <a:avLst>
              <a:gd name="adj" fmla="val 18000"/>
            </a:avLst>
          </a:prstGeom>
          <a:solidFill>
            <a:srgbClr val="0A58C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0" name="Text 28"/>
          <p:cNvSpPr txBox="1"/>
          <p:nvPr/>
        </p:nvSpPr>
        <p:spPr>
          <a:xfrm>
            <a:off x="7680960" y="3337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Google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9464040" y="3337560"/>
            <a:ext cx="1828800" cy="457200"/>
          </a:xfrm>
          <a:prstGeom prst="roundRect">
            <a:avLst>
              <a:gd name="adj" fmla="val 18000"/>
            </a:avLst>
          </a:prstGeom>
          <a:solidFill>
            <a:srgbClr val="0A58C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2" name="Text 30"/>
          <p:cNvSpPr txBox="1"/>
          <p:nvPr/>
        </p:nvSpPr>
        <p:spPr>
          <a:xfrm>
            <a:off x="9601200" y="333756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Login: GitHub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418320" y="3840480"/>
            <a:ext cx="0" cy="274320"/>
          </a:xfrm>
          <a:prstGeom prst="line">
            <a:avLst/>
          </a:prstGeom>
          <a:noFill/>
          <a:ln w="25400">
            <a:solidFill>
              <a:srgbClr val="5B8FE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34" name="Shape 32"/>
          <p:cNvSpPr/>
          <p:nvPr/>
        </p:nvSpPr>
        <p:spPr>
          <a:xfrm>
            <a:off x="7543800" y="4160520"/>
            <a:ext cx="3749040" cy="640080"/>
          </a:xfrm>
          <a:prstGeom prst="roundRect">
            <a:avLst>
              <a:gd name="adj" fmla="val 12857"/>
            </a:avLst>
          </a:prstGeom>
          <a:solidFill>
            <a:srgbClr val="00C2A8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35" name="Text 33"/>
          <p:cNvSpPr txBox="1"/>
          <p:nvPr/>
        </p:nvSpPr>
        <p:spPr>
          <a:xfrm>
            <a:off x="7680960" y="421309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· Permisos · MFA · Recovery Codes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7680960" y="4505706"/>
            <a:ext cx="3474720" cy="2491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00" dirty="0">
                <a:solidFill>
                  <a:srgbClr val="0A4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Compartidos entre ambos métodos de acceso</a:t>
            </a:r>
            <a:endParaRPr lang="en-US" sz="900" dirty="0"/>
          </a:p>
        </p:txBody>
      </p:sp>
      <p:sp>
        <p:nvSpPr>
          <p:cNvPr id="37" name="Text 35"/>
          <p:cNvSpPr txBox="1"/>
          <p:nvPr/>
        </p:nvSpPr>
        <p:spPr>
          <a:xfrm>
            <a:off x="7452360" y="4937760"/>
            <a:ext cx="3931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Validado: activar MFA con Google exige el código también al entrar luego con GitHub.</a:t>
            </a:r>
            <a:endParaRPr lang="en-US" sz="1000" dirty="0"/>
          </a:p>
        </p:txBody>
      </p:sp>
      <p:sp>
        <p:nvSpPr>
          <p:cNvPr id="38" name="Text 3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5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OPCIONAL POR USUARIO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1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Configuración TOTP y desafío en el login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49240" cy="384048"/>
          </a:xfrm>
          <a:prstGeom prst="roundRect">
            <a:avLst>
              <a:gd name="adj" fmla="val 19048"/>
            </a:avLst>
          </a:prstGeom>
          <a:solidFill>
            <a:srgbClr val="082F6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(MfaSetup)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777240" y="2331720"/>
            <a:ext cx="4892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/api/auth/mfa/setup genera (o reutiliza) la clave TOTP.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Web construye el QR en el servidor con QRCoder — la URI otpauth:// nunca se muestra.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clave secreta (SharedKey) queda oculta; solo aparece como alternativa manual.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/api/auth/mfa/enable valida el primer código y activa TwoFactorEnabled.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activarse, Identity entrega 8 recovery codes de un solo uso.</a:t>
            </a:r>
            <a:endParaRPr lang="en-US" sz="115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/api/auth/mfa/disable desactiva MFA y resetea la clave del autenticador.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6263640" y="1691640"/>
            <a:ext cx="5349240" cy="384048"/>
          </a:xfrm>
          <a:prstGeom prst="roundRect">
            <a:avLst>
              <a:gd name="adj" fmla="val 19048"/>
            </a:avLst>
          </a:prstGeom>
          <a:solidFill>
            <a:srgbClr val="082F6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 txBox="1"/>
          <p:nvPr/>
        </p:nvSpPr>
        <p:spPr>
          <a:xfrm>
            <a:off x="6400800" y="169164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 en el login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2148840"/>
            <a:ext cx="5349240" cy="4023360"/>
          </a:xfrm>
          <a:prstGeom prst="roundRect">
            <a:avLst>
              <a:gd name="adj" fmla="val 204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Shape 9"/>
          <p:cNvSpPr/>
          <p:nvPr/>
        </p:nvSpPr>
        <p:spPr>
          <a:xfrm>
            <a:off x="6537960" y="2331720"/>
            <a:ext cx="4800600" cy="502920"/>
          </a:xfrm>
          <a:prstGeom prst="roundRect">
            <a:avLst>
              <a:gd name="adj" fmla="val 16364"/>
            </a:avLst>
          </a:prstGeom>
          <a:solidFill>
            <a:srgbClr val="F4F6FB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 txBox="1"/>
          <p:nvPr/>
        </p:nvSpPr>
        <p:spPr>
          <a:xfrm>
            <a:off x="6675120" y="2331720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local / Google / GitHub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38260" y="2852928"/>
            <a:ext cx="0" cy="256032"/>
          </a:xfrm>
          <a:prstGeom prst="line">
            <a:avLst/>
          </a:prstGeom>
          <a:noFill/>
          <a:ln w="25400">
            <a:solidFill>
              <a:srgbClr val="5B8FE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6537960" y="3127248"/>
            <a:ext cx="4800600" cy="548640"/>
          </a:xfrm>
          <a:prstGeom prst="roundRect">
            <a:avLst>
              <a:gd name="adj" fmla="val 15000"/>
            </a:avLst>
          </a:prstGeom>
          <a:solidFill>
            <a:srgbClr val="0A58C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 txBox="1"/>
          <p:nvPr/>
        </p:nvSpPr>
        <p:spPr>
          <a:xfrm>
            <a:off x="6675120" y="3172968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TwoFactorEnabled = true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6675120" y="342900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DCE6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MfaChallengeToken (JWT, 5 min, purpose=mfa)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8938260" y="3694176"/>
            <a:ext cx="0" cy="256032"/>
          </a:xfrm>
          <a:prstGeom prst="line">
            <a:avLst/>
          </a:prstGeom>
          <a:noFill/>
          <a:ln w="25400">
            <a:solidFill>
              <a:srgbClr val="5B8FE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8" name="Shape 16"/>
          <p:cNvSpPr/>
          <p:nvPr/>
        </p:nvSpPr>
        <p:spPr>
          <a:xfrm>
            <a:off x="6537960" y="3977640"/>
            <a:ext cx="2354580" cy="384048"/>
          </a:xfrm>
          <a:prstGeom prst="roundRect">
            <a:avLst>
              <a:gd name="adj" fmla="val 19048"/>
            </a:avLst>
          </a:prstGeom>
          <a:solidFill>
            <a:srgbClr val="00C2A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 txBox="1"/>
          <p:nvPr/>
        </p:nvSpPr>
        <p:spPr>
          <a:xfrm>
            <a:off x="6537960" y="3977640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/mfa/verify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83980" y="3977640"/>
            <a:ext cx="2354580" cy="384048"/>
          </a:xfrm>
          <a:prstGeom prst="roundRect">
            <a:avLst>
              <a:gd name="adj" fmla="val 19048"/>
            </a:avLst>
          </a:prstGeom>
          <a:solidFill>
            <a:srgbClr val="E8A33D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 txBox="1"/>
          <p:nvPr/>
        </p:nvSpPr>
        <p:spPr>
          <a:xfrm>
            <a:off x="8983980" y="3977640"/>
            <a:ext cx="23545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/mfa/recovery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8938260" y="4379976"/>
            <a:ext cx="0" cy="256032"/>
          </a:xfrm>
          <a:prstGeom prst="line">
            <a:avLst/>
          </a:prstGeom>
          <a:noFill/>
          <a:ln w="25400">
            <a:solidFill>
              <a:srgbClr val="5B8FE0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23" name="Shape 21"/>
          <p:cNvSpPr/>
          <p:nvPr/>
        </p:nvSpPr>
        <p:spPr>
          <a:xfrm>
            <a:off x="6537960" y="4654296"/>
            <a:ext cx="4800600" cy="502920"/>
          </a:xfrm>
          <a:prstGeom prst="roundRect">
            <a:avLst>
              <a:gd name="adj" fmla="val 16364"/>
            </a:avLst>
          </a:prstGeom>
          <a:solidFill>
            <a:srgbClr val="082F67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 txBox="1"/>
          <p:nvPr/>
        </p:nvSpPr>
        <p:spPr>
          <a:xfrm>
            <a:off x="6675120" y="4700016"/>
            <a:ext cx="4526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+ Refresh Token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6675120" y="4937760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850" dirty="0">
                <a:solidFill>
                  <a:srgbClr val="C6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completa el login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5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1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JWT, Refresh Tokens y tokens de propósito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082F6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Token (JWT)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731520" y="2313432"/>
            <a:ext cx="3154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Firmado HMAC-SHA256.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Claims: sub, email, jti, mfa, roles, permission.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 por defecto: 60 minutos (Jwt:AccessTokenMinutes).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Issuer/Audience/Key deben coincidir con el Api de Scoring.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0A58C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 txBox="1"/>
          <p:nvPr/>
        </p:nvSpPr>
        <p:spPr>
          <a:xfrm>
            <a:off x="4480560" y="16916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Refresh Token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14884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 txBox="1"/>
          <p:nvPr/>
        </p:nvSpPr>
        <p:spPr>
          <a:xfrm>
            <a:off x="4526280" y="2313432"/>
            <a:ext cx="3154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aleatorio de 64 bytes (no es un JWT).</a:t>
            </a:r>
            <a:endParaRPr lang="en-US" sz="11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persiste hasheado (SHA-256) en RefreshTokens.</a:t>
            </a:r>
            <a:endParaRPr lang="en-US" sz="11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Vigencia por defecto: 7 días (Jwt:RefreshTokenDays).</a:t>
            </a:r>
            <a:endParaRPr lang="en-US" sz="11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Rotación encadenada: cada uso revoca el anterior (ReplacedByTokenHash).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082F6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 txBox="1"/>
          <p:nvPr/>
        </p:nvSpPr>
        <p:spPr>
          <a:xfrm>
            <a:off x="8275320" y="16916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 de propósito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148840"/>
            <a:ext cx="3520440" cy="2514600"/>
          </a:xfrm>
          <a:prstGeom prst="roundRect">
            <a:avLst>
              <a:gd name="adj" fmla="val 3273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 txBox="1"/>
          <p:nvPr/>
        </p:nvSpPr>
        <p:spPr>
          <a:xfrm>
            <a:off x="8321040" y="2313432"/>
            <a:ext cx="315468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MfaChallengeToken: JWT de 5 min, purpose=mfa.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ExternalExchangeCode: JWT de 2 min, purpose=external_exchange.</a:t>
            </a:r>
            <a:endParaRPr lang="en-US" sz="1100" dirty="0"/>
          </a:p>
          <a:p>
            <a:pPr marL="177800" indent="-177800">
              <a:spcAft>
                <a:spcPts val="10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Misma clave de firma, pero no sirven como access token.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983480"/>
            <a:ext cx="11109960" cy="384048"/>
          </a:xfrm>
          <a:prstGeom prst="roundRect">
            <a:avLst>
              <a:gd name="adj" fmla="val 19048"/>
            </a:avLst>
          </a:prstGeom>
          <a:solidFill>
            <a:srgbClr val="00C2A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 txBox="1"/>
          <p:nvPr/>
        </p:nvSpPr>
        <p:spPr>
          <a:xfrm>
            <a:off x="685800" y="4983480"/>
            <a:ext cx="10835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Revocación en logout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48640" y="5440680"/>
            <a:ext cx="11109960" cy="9144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9" name="Text 17"/>
          <p:cNvSpPr txBox="1"/>
          <p:nvPr/>
        </p:nvSpPr>
        <p:spPr>
          <a:xfrm>
            <a:off x="822960" y="5440680"/>
            <a:ext cx="10561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/account/Logout (Web)  →  POST /api/auth/revoke (Identity)  →  RefreshTokens.RevokedAt  →  SignOut de la cookie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5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1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Roles, permisos y la diferencia 401 / 403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384048"/>
          </a:xfrm>
          <a:prstGeom prst="roundRect">
            <a:avLst>
              <a:gd name="adj" fmla="val 19048"/>
            </a:avLst>
          </a:prstGeom>
          <a:solidFill>
            <a:srgbClr val="082F6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y permisos (Identity)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9456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777240" y="2377440"/>
            <a:ext cx="48920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Roles: Administrador y Analista.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Permisos (claims): Scoring.Solicitud.Crear y Scoring.Evaluacion.Ejecutar.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ambos roles reciben ambos permisos en el seed.</a:t>
            </a:r>
            <a:endParaRPr lang="en-US" sz="12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2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real: /api/users exige explícitamente rol Administrador.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448056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082F6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 txBox="1"/>
          <p:nvPr/>
        </p:nvSpPr>
        <p:spPr>
          <a:xfrm>
            <a:off x="548640" y="44805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/api/users  →  requiere rol Administrador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263640" y="1737360"/>
            <a:ext cx="5349240" cy="384048"/>
          </a:xfrm>
          <a:prstGeom prst="roundRect">
            <a:avLst>
              <a:gd name="adj" fmla="val 19048"/>
            </a:avLst>
          </a:prstGeom>
          <a:solidFill>
            <a:srgbClr val="0A58C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 txBox="1"/>
          <p:nvPr/>
        </p:nvSpPr>
        <p:spPr>
          <a:xfrm>
            <a:off x="6400800" y="1737360"/>
            <a:ext cx="5074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vs 403 en el Api de Scoring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263640" y="2194560"/>
            <a:ext cx="5349240" cy="2148840"/>
          </a:xfrm>
          <a:prstGeom prst="roundRect">
            <a:avLst>
              <a:gd name="adj" fmla="val 3830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6537960" y="2359152"/>
            <a:ext cx="4800600" cy="566928"/>
          </a:xfrm>
          <a:prstGeom prst="roundRect">
            <a:avLst>
              <a:gd name="adj" fmla="val 14516"/>
            </a:avLst>
          </a:prstGeom>
          <a:solidFill>
            <a:srgbClr val="E8A33D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4" name="Text 12"/>
          <p:cNvSpPr txBox="1"/>
          <p:nvPr/>
        </p:nvSpPr>
        <p:spPr>
          <a:xfrm>
            <a:off x="6675120" y="2404872"/>
            <a:ext cx="45262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Unauthorized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675120" y="2668219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43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ausente, inválido o expirado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537960" y="3035808"/>
            <a:ext cx="4800600" cy="566928"/>
          </a:xfrm>
          <a:prstGeom prst="roundRect">
            <a:avLst>
              <a:gd name="adj" fmla="val 14516"/>
            </a:avLst>
          </a:prstGeom>
          <a:solidFill>
            <a:srgbClr val="E97452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 txBox="1"/>
          <p:nvPr/>
        </p:nvSpPr>
        <p:spPr>
          <a:xfrm>
            <a:off x="6675120" y="3081528"/>
            <a:ext cx="4526280" cy="226771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Forbidden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6675120" y="3344875"/>
            <a:ext cx="4526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válido, sin el permiso requerido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6263640" y="4480560"/>
            <a:ext cx="5349240" cy="502920"/>
          </a:xfrm>
          <a:prstGeom prst="roundRect">
            <a:avLst>
              <a:gd name="adj" fmla="val 14545"/>
            </a:avLst>
          </a:prstGeom>
          <a:solidFill>
            <a:srgbClr val="082F6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0" name="Text 18"/>
          <p:cNvSpPr txBox="1"/>
          <p:nvPr/>
        </p:nvSpPr>
        <p:spPr>
          <a:xfrm>
            <a:off x="6263640" y="448056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exitoso sin rol asignado  →  403 al registrar o evaluar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5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EL API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1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MotorScoring.Hexagonal.Net8 ahora valida JWT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035040" cy="548640"/>
          </a:xfrm>
          <a:prstGeom prst="roundRect">
            <a:avLst>
              <a:gd name="adj" fmla="val 15000"/>
            </a:avLst>
          </a:prstGeom>
          <a:solidFill>
            <a:srgbClr val="F4F6FB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 txBox="1"/>
          <p:nvPr/>
        </p:nvSpPr>
        <p:spPr>
          <a:xfrm>
            <a:off x="685800" y="173736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Authorization: Bearer &lt;JWT&gt;</a:t>
            </a:r>
            <a:endParaRPr lang="en-US" sz="1150" dirty="0"/>
          </a:p>
        </p:txBody>
      </p:sp>
      <p:sp>
        <p:nvSpPr>
          <p:cNvPr id="6" name="Shape 4"/>
          <p:cNvSpPr/>
          <p:nvPr/>
        </p:nvSpPr>
        <p:spPr>
          <a:xfrm>
            <a:off x="3566160" y="2304288"/>
            <a:ext cx="0" cy="274320"/>
          </a:xfrm>
          <a:prstGeom prst="line">
            <a:avLst/>
          </a:prstGeom>
          <a:noFill/>
          <a:ln w="25400">
            <a:solidFill>
              <a:srgbClr val="0A58CA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7" name="Shape 5"/>
          <p:cNvSpPr/>
          <p:nvPr/>
        </p:nvSpPr>
        <p:spPr>
          <a:xfrm>
            <a:off x="548640" y="2596896"/>
            <a:ext cx="6035040" cy="548640"/>
          </a:xfrm>
          <a:prstGeom prst="roundRect">
            <a:avLst>
              <a:gd name="adj" fmla="val 15000"/>
            </a:avLst>
          </a:prstGeom>
          <a:solidFill>
            <a:srgbClr val="0A58C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8" name="Text 6"/>
          <p:cNvSpPr txBox="1"/>
          <p:nvPr/>
        </p:nvSpPr>
        <p:spPr>
          <a:xfrm>
            <a:off x="685800" y="2596896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JwtBearer valida firma, issuer, audience y expiración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3566160" y="3163824"/>
            <a:ext cx="0" cy="274320"/>
          </a:xfrm>
          <a:prstGeom prst="line">
            <a:avLst/>
          </a:prstGeom>
          <a:noFill/>
          <a:ln w="25400">
            <a:solidFill>
              <a:srgbClr val="0A58CA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0" name="Shape 8"/>
          <p:cNvSpPr/>
          <p:nvPr/>
        </p:nvSpPr>
        <p:spPr>
          <a:xfrm>
            <a:off x="548640" y="3456432"/>
            <a:ext cx="6035040" cy="548640"/>
          </a:xfrm>
          <a:prstGeom prst="roundRect">
            <a:avLst>
              <a:gd name="adj" fmla="val 15000"/>
            </a:avLst>
          </a:prstGeom>
          <a:solidFill>
            <a:srgbClr val="0A58CA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 txBox="1"/>
          <p:nvPr/>
        </p:nvSpPr>
        <p:spPr>
          <a:xfrm>
            <a:off x="685800" y="345643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8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Policy por endpoint  →  RequireClaim("permission", ...)</a:t>
            </a:r>
            <a:endParaRPr lang="en-US" sz="1080" dirty="0"/>
          </a:p>
        </p:txBody>
      </p:sp>
      <p:sp>
        <p:nvSpPr>
          <p:cNvPr id="12" name="Shape 10"/>
          <p:cNvSpPr/>
          <p:nvPr/>
        </p:nvSpPr>
        <p:spPr>
          <a:xfrm>
            <a:off x="2238451" y="4023360"/>
            <a:ext cx="0" cy="274320"/>
          </a:xfrm>
          <a:prstGeom prst="line">
            <a:avLst/>
          </a:prstGeom>
          <a:noFill/>
          <a:ln w="25400">
            <a:solidFill>
              <a:srgbClr val="00C2A8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3" name="Shape 11"/>
          <p:cNvSpPr/>
          <p:nvPr/>
        </p:nvSpPr>
        <p:spPr>
          <a:xfrm>
            <a:off x="4893869" y="4023360"/>
            <a:ext cx="0" cy="274320"/>
          </a:xfrm>
          <a:prstGeom prst="line">
            <a:avLst/>
          </a:prstGeom>
          <a:noFill/>
          <a:ln w="25400">
            <a:solidFill>
              <a:srgbClr val="E97452"/>
            </a:solidFill>
            <a:prstDash val="solid"/>
            <a:tailEnd type="triangle"/>
          </a:ln>
        </p:spPr>
        <p:txBody>
          <a:bodyPr/>
          <a:lstStyle/>
          <a:p>
            <a:endParaRPr lang="es-PE"/>
          </a:p>
        </p:txBody>
      </p:sp>
      <p:sp>
        <p:nvSpPr>
          <p:cNvPr id="14" name="Shape 12"/>
          <p:cNvSpPr/>
          <p:nvPr/>
        </p:nvSpPr>
        <p:spPr>
          <a:xfrm>
            <a:off x="548640" y="4315968"/>
            <a:ext cx="2776118" cy="502920"/>
          </a:xfrm>
          <a:prstGeom prst="roundRect">
            <a:avLst>
              <a:gd name="adj" fmla="val 16364"/>
            </a:avLst>
          </a:prstGeom>
          <a:solidFill>
            <a:srgbClr val="00C2A8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 txBox="1"/>
          <p:nvPr/>
        </p:nvSpPr>
        <p:spPr>
          <a:xfrm>
            <a:off x="685800" y="4361688"/>
            <a:ext cx="2501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Permitido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685800" y="4599432"/>
            <a:ext cx="25017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0A4B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/ 201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807562" y="4315968"/>
            <a:ext cx="2776118" cy="502920"/>
          </a:xfrm>
          <a:prstGeom prst="roundRect">
            <a:avLst>
              <a:gd name="adj" fmla="val 16364"/>
            </a:avLst>
          </a:prstGeom>
          <a:solidFill>
            <a:srgbClr val="E97452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 txBox="1"/>
          <p:nvPr/>
        </p:nvSpPr>
        <p:spPr>
          <a:xfrm>
            <a:off x="3944722" y="4361688"/>
            <a:ext cx="250179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403 Forbidden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944722" y="4599432"/>
            <a:ext cx="250179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950" dirty="0">
                <a:solidFill>
                  <a:srgbClr val="FBE3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permiso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5029200"/>
            <a:ext cx="6035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Api no valida contraseñas ni conoce Google/GitHub — solo confía en el JWT firmado por Identity.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903720" y="1737360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082F6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2" name="Text 20"/>
          <p:cNvSpPr txBox="1"/>
          <p:nvPr/>
        </p:nvSpPr>
        <p:spPr>
          <a:xfrm>
            <a:off x="7040880" y="173736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Política por endpoint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03720" y="2167128"/>
            <a:ext cx="475488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4" name="Text 22"/>
          <p:cNvSpPr txBox="1"/>
          <p:nvPr/>
        </p:nvSpPr>
        <p:spPr>
          <a:xfrm>
            <a:off x="7132320" y="2304288"/>
            <a:ext cx="42976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51D42"/>
                </a:solidFill>
              </a:rPr>
              <a:t>POST /api/v1/solicitudes-credito
</a:t>
            </a:r>
            <a:endParaRPr lang="en-US" sz="1150" dirty="0"/>
          </a:p>
          <a:p>
            <a:pPr marL="0" indent="0">
              <a:buNone/>
            </a:pPr>
            <a:r>
              <a:rPr lang="en-US" sz="1100" dirty="0">
                <a:solidFill>
                  <a:srgbClr val="0A58CA"/>
                </a:solidFill>
              </a:rPr>
              <a:t>→ Policy: Scoring.Solicitud.Crear
</a:t>
            </a:r>
            <a:endParaRPr lang="en-US" sz="1150" dirty="0"/>
          </a:p>
          <a:p>
            <a:pPr marL="0" indent="0">
              <a:buNone/>
            </a:pPr>
            <a:r>
              <a:rPr lang="en-US" sz="1150" b="1" dirty="0">
                <a:solidFill>
                  <a:srgbClr val="051D42"/>
                </a:solidFill>
              </a:rPr>
              <a:t>POST /api/v1/solicitudes-credito/{id}/evaluar
</a:t>
            </a:r>
            <a:endParaRPr lang="en-US" sz="1150" dirty="0"/>
          </a:p>
          <a:p>
            <a:pPr marL="0" indent="0">
              <a:buNone/>
            </a:pPr>
            <a:r>
              <a:rPr lang="en-US" sz="1100" dirty="0">
                <a:solidFill>
                  <a:srgbClr val="0A58CA"/>
                </a:solidFill>
              </a:rPr>
              <a:t>→ Policy: Scoring.Evaluacion.Ejecutar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903720" y="3749040"/>
            <a:ext cx="4754880" cy="384048"/>
          </a:xfrm>
          <a:prstGeom prst="roundRect">
            <a:avLst>
              <a:gd name="adj" fmla="val 19048"/>
            </a:avLst>
          </a:prstGeom>
          <a:solidFill>
            <a:srgbClr val="082F6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6" name="Text 24"/>
          <p:cNvSpPr txBox="1"/>
          <p:nvPr/>
        </p:nvSpPr>
        <p:spPr>
          <a:xfrm>
            <a:off x="7040880" y="37490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Configuración añadida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903720" y="4178808"/>
            <a:ext cx="475488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28" name="Text 26"/>
          <p:cNvSpPr txBox="1"/>
          <p:nvPr/>
        </p:nvSpPr>
        <p:spPr>
          <a:xfrm>
            <a:off x="7132320" y="4315968"/>
            <a:ext cx="42976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Jwt:Issuer, Jwt:Audience, Jwt:SigningKey (idénticos a Identity).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AddAuthentication + AddJwtBearer en Program.cs.</a:t>
            </a:r>
            <a:endParaRPr lang="en-US" sz="1100" dirty="0"/>
          </a:p>
          <a:p>
            <a:pPr marL="177800" indent="-177800">
              <a:spcAft>
                <a:spcPts val="8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/health se mantiene sin autenticación.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A58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 EN EL WEB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51D4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MotorScoring.Web incorpora toda la experiencia de login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082F6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5" name="Text 3"/>
          <p:cNvSpPr txBox="1"/>
          <p:nvPr/>
        </p:nvSpPr>
        <p:spPr>
          <a:xfrm>
            <a:off x="685800" y="16916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Nuevo: AccountController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14884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7" name="Text 5"/>
          <p:cNvSpPr txBox="1"/>
          <p:nvPr/>
        </p:nvSpPr>
        <p:spPr>
          <a:xfrm>
            <a:off x="731520" y="2313432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local y ExternalLogin/ExternalCallback.</a:t>
            </a:r>
            <a:endParaRPr lang="en-US" sz="115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y RecoveryCode (desafío post-login).</a:t>
            </a:r>
            <a:endParaRPr lang="en-US" sz="115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MfaSetup: arma el QR y muestra recovery codes.</a:t>
            </a:r>
            <a:endParaRPr lang="en-US" sz="1150" dirty="0"/>
          </a:p>
          <a:p>
            <a:pPr marL="177800" indent="-177800">
              <a:spcAft>
                <a:spcPts val="11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Logout: revoca el refresh token en Identity y cierra la cookie.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0A58CA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 txBox="1"/>
          <p:nvPr/>
        </p:nvSpPr>
        <p:spPr>
          <a:xfrm>
            <a:off x="4480560" y="16916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Nuevos servicios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43400" y="214884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1" name="Text 9"/>
          <p:cNvSpPr txBox="1"/>
          <p:nvPr/>
        </p:nvSpPr>
        <p:spPr>
          <a:xfrm>
            <a:off x="4526280" y="2313432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IdentityApiService: HttpClient hacia Identity (login, mfa, refresh, external).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TokenSessionService: guarda y renueva el access token de la sesión.</a:t>
            </a:r>
            <a:endParaRPr lang="en-US" sz="1150" dirty="0"/>
          </a:p>
          <a:p>
            <a:pPr marL="177800" indent="-177800">
              <a:spcAft>
                <a:spcPts val="1200"/>
              </a:spcAft>
              <a:buSzPct val="100000"/>
              <a:buChar char="▪"/>
            </a:pPr>
            <a:r>
              <a:rPr lang="en-US" sz="115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QrCodeService: genera el QR en el servidor (QRCoder), sin exponer la URI otpauth.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384048"/>
          </a:xfrm>
          <a:prstGeom prst="roundRect">
            <a:avLst>
              <a:gd name="adj" fmla="val 19048"/>
            </a:avLst>
          </a:prstGeom>
          <a:solidFill>
            <a:srgbClr val="082F67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3" name="Text 11"/>
          <p:cNvSpPr txBox="1"/>
          <p:nvPr/>
        </p:nvSpPr>
        <p:spPr>
          <a:xfrm>
            <a:off x="8275320" y="1691640"/>
            <a:ext cx="3246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Sesión y seguridad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138160" y="214884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2700">
            <a:solidFill>
              <a:srgbClr val="D7DEEA"/>
            </a:solidFill>
            <a:prstDash val="solid"/>
          </a:ln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 txBox="1"/>
          <p:nvPr/>
        </p:nvSpPr>
        <p:spPr>
          <a:xfrm>
            <a:off x="8321040" y="2313432"/>
            <a:ext cx="3154680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 por cookie (MotorScoring.Web.Auth), no sesión de servidor.</a:t>
            </a:r>
            <a:endParaRPr lang="en-US" sz="11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SolicitudCreditoApiService agrega el Bearer JWT en cada llamada al Api.</a:t>
            </a:r>
            <a:endParaRPr lang="en-US" sz="11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401 del Api → sesión inválida; 403 → falta de permiso.</a:t>
            </a:r>
            <a:endParaRPr lang="en-US" sz="1100" dirty="0"/>
          </a:p>
          <a:p>
            <a:pPr marL="177800" indent="-177800">
              <a:spcAft>
                <a:spcPts val="900"/>
              </a:spcAft>
              <a:buSzPct val="100000"/>
              <a:buChar char="▪"/>
            </a:pPr>
            <a:r>
              <a:rPr lang="en-US" sz="1100" dirty="0">
                <a:solidFill>
                  <a:srgbClr val="1A22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Identity:BaseUrl (interno) vs. PublicBaseUrl (navegador) para el login externo.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5166360"/>
            <a:ext cx="11109960" cy="502920"/>
          </a:xfrm>
          <a:prstGeom prst="roundRect">
            <a:avLst>
              <a:gd name="adj" fmla="val 14545"/>
            </a:avLst>
          </a:prstGeom>
          <a:solidFill>
            <a:srgbClr val="00C2A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7" name="Text 15"/>
          <p:cNvSpPr txBox="1"/>
          <p:nvPr/>
        </p:nvSpPr>
        <p:spPr>
          <a:xfrm>
            <a:off x="548640" y="5166360"/>
            <a:ext cx="11109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Web nunca ve una contraseña ni un secreto TOTP en texto plano — todo pasa por Identity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1365992" y="6400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82F6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114800"/>
            <a:ext cx="4572000" cy="4572000"/>
          </a:xfrm>
          <a:prstGeom prst="ellipse">
            <a:avLst/>
          </a:prstGeom>
          <a:solidFill>
            <a:srgbClr val="051D42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3" name="Text 1"/>
          <p:cNvSpPr txBox="1"/>
          <p:nvPr/>
        </p:nvSpPr>
        <p:spPr>
          <a:xfrm>
            <a:off x="548640" y="384048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00C2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ESTADO ACTUAL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658368"/>
            <a:ext cx="10789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Validado de punta a punta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548640" y="1920240"/>
            <a:ext cx="402336" cy="402336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6" name="Text 4"/>
          <p:cNvSpPr txBox="1"/>
          <p:nvPr/>
        </p:nvSpPr>
        <p:spPr>
          <a:xfrm>
            <a:off x="548640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051560" y="19019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local, Google y GitHub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217920" y="1920240"/>
            <a:ext cx="402336" cy="402336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9" name="Text 7"/>
          <p:cNvSpPr txBox="1"/>
          <p:nvPr/>
        </p:nvSpPr>
        <p:spPr>
          <a:xfrm>
            <a:off x="6217920" y="1920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6720840" y="190195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con los tres métodos de login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402336" cy="402336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2" name="Text 10"/>
          <p:cNvSpPr txBox="1"/>
          <p:nvPr/>
        </p:nvSpPr>
        <p:spPr>
          <a:xfrm>
            <a:off x="548640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051560" y="26791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y GitHub sobre el mismo usuario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217920" y="2697480"/>
            <a:ext cx="402336" cy="402336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5" name="Text 13"/>
          <p:cNvSpPr txBox="1"/>
          <p:nvPr/>
        </p:nvSpPr>
        <p:spPr>
          <a:xfrm>
            <a:off x="6217920" y="26974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6720840" y="267919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JWT hacia MotorScoring.Api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3474720"/>
            <a:ext cx="402336" cy="402336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18" name="Text 16"/>
          <p:cNvSpPr txBox="1"/>
          <p:nvPr/>
        </p:nvSpPr>
        <p:spPr>
          <a:xfrm>
            <a:off x="548640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051560" y="34564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Autorización por permisos (403 sin rol)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217920" y="3474720"/>
            <a:ext cx="402336" cy="402336"/>
          </a:xfrm>
          <a:prstGeom prst="ellipse">
            <a:avLst/>
          </a:prstGeom>
          <a:solidFill>
            <a:srgbClr val="00C2A8"/>
          </a:solidFill>
          <a:ln/>
        </p:spPr>
        <p:txBody>
          <a:bodyPr/>
          <a:lstStyle/>
          <a:p>
            <a:endParaRPr lang="es-PE"/>
          </a:p>
        </p:txBody>
      </p:sp>
      <p:sp>
        <p:nvSpPr>
          <p:cNvPr id="21" name="Text 19"/>
          <p:cNvSpPr txBox="1"/>
          <p:nvPr/>
        </p:nvSpPr>
        <p:spPr>
          <a:xfrm>
            <a:off x="6217920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51D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720840" y="3456432"/>
            <a:ext cx="4663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Registrar y evaluar solicitud end-to-end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48640" y="5806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FB3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paso sugerido: administración de usuarios/roles desde el Web y observabilidad de Identity.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1642</Words>
  <Application>Microsoft Office PowerPoint</Application>
  <PresentationFormat>Widescreen</PresentationFormat>
  <Paragraphs>268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8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José Antonio Julca Díaz</cp:lastModifiedBy>
  <cp:revision>2</cp:revision>
  <dcterms:created xsi:type="dcterms:W3CDTF">2026-09-14T07:44:38Z</dcterms:created>
  <dcterms:modified xsi:type="dcterms:W3CDTF">2026-09-15T00:17:33Z</dcterms:modified>
</cp:coreProperties>
</file>